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4" d="100"/>
          <a:sy n="24" d="100"/>
        </p:scale>
        <p:origin x="20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5T14:30:07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42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224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00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10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9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60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0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326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23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72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25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3414B-19AC-44C7-8795-AC1DF635FB25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8CA89-5E63-43EA-BE11-51CA6D93B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68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FB7FA-E911-D0F2-4277-E71626F2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4" y="460467"/>
            <a:ext cx="1765933" cy="16878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36DB7B-18AA-5C34-5A53-E480706EA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073" y="382395"/>
            <a:ext cx="1765933" cy="1765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B0F448-7FC9-3257-4DCB-874607DC31F7}"/>
              </a:ext>
            </a:extLst>
          </p:cNvPr>
          <p:cNvSpPr txBox="1"/>
          <p:nvPr/>
        </p:nvSpPr>
        <p:spPr>
          <a:xfrm>
            <a:off x="2754775" y="636608"/>
            <a:ext cx="972273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stellar" panose="020A0402060406010301" pitchFamily="18" charset="0"/>
              </a:rPr>
              <a:t>Noise Reduction Using Neural Adaptive Control and Deep Learning Methods for Various Applications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Diya K D, Dr. Swathi Prasad BK, Dr. Jayahar Sivasubramanian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St Josephs University, Ramaiah University of Applied Sciences, Bangalore 560027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7B24ED-420C-BD3E-EEA3-8B6ADFAC53B9}"/>
              </a:ext>
            </a:extLst>
          </p:cNvPr>
          <p:cNvCxnSpPr/>
          <p:nvPr/>
        </p:nvCxnSpPr>
        <p:spPr>
          <a:xfrm>
            <a:off x="0" y="2465408"/>
            <a:ext cx="15119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8D9DFCB-B4EE-79B4-40F1-776F783DDB2E}"/>
                  </a:ext>
                </a:extLst>
              </p14:cNvPr>
              <p14:cNvContentPartPr/>
              <p14:nvPr/>
            </p14:nvContentPartPr>
            <p14:xfrm>
              <a:off x="-324283" y="228016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8D9DFCB-B4EE-79B4-40F1-776F783DDB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33283" y="227116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37A654D-079A-5CF6-3A2D-1FF8438254E7}"/>
              </a:ext>
            </a:extLst>
          </p:cNvPr>
          <p:cNvSpPr/>
          <p:nvPr/>
        </p:nvSpPr>
        <p:spPr>
          <a:xfrm>
            <a:off x="208344" y="2831884"/>
            <a:ext cx="3947096" cy="362770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30FC00-D7A8-98D0-40F6-DF2537AD0D03}"/>
              </a:ext>
            </a:extLst>
          </p:cNvPr>
          <p:cNvSpPr txBox="1"/>
          <p:nvPr/>
        </p:nvSpPr>
        <p:spPr>
          <a:xfrm>
            <a:off x="-57080" y="2917204"/>
            <a:ext cx="4062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ABSTRACT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EC4CF2-A5B2-A23E-BF75-4356915273C9}"/>
              </a:ext>
            </a:extLst>
          </p:cNvPr>
          <p:cNvSpPr txBox="1"/>
          <p:nvPr/>
        </p:nvSpPr>
        <p:spPr>
          <a:xfrm>
            <a:off x="328967" y="3371856"/>
            <a:ext cx="3705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Noise reduction is a crucial challenge across numerous domains, including manufacturing, transportation, and healthcare, where excessive noise can impact productivity, safety, and well-being. This poster presents a novel approach integrating neural adaptive control and deep learning methods to address noise reduction in diverse applications.</a:t>
            </a:r>
            <a:endParaRPr lang="en-IN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2F5429-8D91-6F45-5623-A68B5A2E2CF2}"/>
              </a:ext>
            </a:extLst>
          </p:cNvPr>
          <p:cNvSpPr/>
          <p:nvPr/>
        </p:nvSpPr>
        <p:spPr>
          <a:xfrm>
            <a:off x="4483033" y="2831884"/>
            <a:ext cx="10295169" cy="3627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Initial Noise Reduction: Wiener filtering can be used as a pre-processing step to reduce the bulk of the noise. This linear filtering step effectively smooths out the signal and removes high-frequency noise components.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Refinement with Neural Networks: After initial noise reduction, neural networks can refine the signal by learning and correcting the non-linear distortions and residual noise that Wiener filtering cannot handle effectively. The neural network can learn from the partially cleaned signal and improve the overall signal quality.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Handling Non-stationarity: While Wiener filtering assumes stationary signal and noise, neural networks can handle non-stationary conditions better. The neural network can adapt to variations in the noise and signal properties over time, providing robust performance in diverse scenarios.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A26FC-C03B-4712-BF1F-7A3F5D3E2858}"/>
              </a:ext>
            </a:extLst>
          </p:cNvPr>
          <p:cNvSpPr txBox="1"/>
          <p:nvPr/>
        </p:nvSpPr>
        <p:spPr>
          <a:xfrm>
            <a:off x="7888627" y="2833168"/>
            <a:ext cx="348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METHODOLOGY</a:t>
            </a:r>
            <a:endParaRPr lang="en-IN" sz="2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A35BE3B-37F8-D952-ED9D-3225E2055D82}"/>
              </a:ext>
            </a:extLst>
          </p:cNvPr>
          <p:cNvSpPr/>
          <p:nvPr/>
        </p:nvSpPr>
        <p:spPr>
          <a:xfrm>
            <a:off x="208344" y="6672567"/>
            <a:ext cx="7245271" cy="44086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31F24F-66F4-2D57-7F23-90F8CA4B0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40" y="6799524"/>
            <a:ext cx="7020475" cy="4276675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E458D2C-1ADD-4955-86A5-C22271D5041A}"/>
              </a:ext>
            </a:extLst>
          </p:cNvPr>
          <p:cNvSpPr/>
          <p:nvPr/>
        </p:nvSpPr>
        <p:spPr>
          <a:xfrm>
            <a:off x="7616142" y="6677604"/>
            <a:ext cx="7294864" cy="44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8C51E36-F33A-99D8-B820-47F2ADC0F434}"/>
              </a:ext>
            </a:extLst>
          </p:cNvPr>
          <p:cNvSpPr/>
          <p:nvPr/>
        </p:nvSpPr>
        <p:spPr>
          <a:xfrm>
            <a:off x="328023" y="11261974"/>
            <a:ext cx="7230708" cy="45835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7B07EA5-884E-86C8-F311-5624DBD4B8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136" y="11532180"/>
            <a:ext cx="7027362" cy="4145736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D6C7BC4-4ED4-3C1E-EB1C-1F1369B18A18}"/>
              </a:ext>
            </a:extLst>
          </p:cNvPr>
          <p:cNvSpPr/>
          <p:nvPr/>
        </p:nvSpPr>
        <p:spPr>
          <a:xfrm>
            <a:off x="7736381" y="11311939"/>
            <a:ext cx="7174625" cy="8517990"/>
          </a:xfrm>
          <a:prstGeom prst="roundRect">
            <a:avLst>
              <a:gd name="adj" fmla="val 11994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0287A7-5E9A-97C7-0799-8B908D7BC83E}"/>
              </a:ext>
            </a:extLst>
          </p:cNvPr>
          <p:cNvSpPr txBox="1"/>
          <p:nvPr/>
        </p:nvSpPr>
        <p:spPr>
          <a:xfrm>
            <a:off x="8502233" y="11398046"/>
            <a:ext cx="5269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RESULTS AND OBSERVATIONS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94A75B-4F70-8A8C-7ECD-C982932FA6F5}"/>
              </a:ext>
            </a:extLst>
          </p:cNvPr>
          <p:cNvSpPr txBox="1"/>
          <p:nvPr/>
        </p:nvSpPr>
        <p:spPr>
          <a:xfrm>
            <a:off x="7888626" y="11802445"/>
            <a:ext cx="70223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The Wiener filter exhibited a higher amplitude reduction rate of 54.9989%, with a comparable response time of 0.0100 seconds, achieving a high accuracy level of 99.9519%.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The neural network approach showcased a slightly lower amplitude reduction rate of 52.4272%, with a longer response time of 0.8 seconds, resulting in a lower accuracy level of 69.5807%.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When combining the Wiener and neural network techniques, the amplitude reduction rate slightly increased to 54.1916%, with a response time consistent with the individual Wiener filter at 0.0100 seconds, achieving a very high accuracy level of 100.0438%.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79CFD26-BD6A-8B7E-E020-D44F2EA1E4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2767" y="14673921"/>
            <a:ext cx="3399297" cy="231668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45F3D8A-72C3-7720-206E-B65F820B47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1025" y="14673921"/>
            <a:ext cx="3571771" cy="23166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F365C98-1876-8037-C9E1-896811010A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8626" y="17120687"/>
            <a:ext cx="2987803" cy="235799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09D94B7-7876-3EC8-B088-EEE0A77C4A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6818" y="17101891"/>
            <a:ext cx="3641384" cy="2361827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BCA8C16-0CF6-95AC-D9AB-D465EACE1E8D}"/>
              </a:ext>
            </a:extLst>
          </p:cNvPr>
          <p:cNvSpPr/>
          <p:nvPr/>
        </p:nvSpPr>
        <p:spPr>
          <a:xfrm>
            <a:off x="328024" y="16093440"/>
            <a:ext cx="7054946" cy="35509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666004-3A28-91BE-95F6-0744B7507A3D}"/>
              </a:ext>
            </a:extLst>
          </p:cNvPr>
          <p:cNvSpPr txBox="1"/>
          <p:nvPr/>
        </p:nvSpPr>
        <p:spPr>
          <a:xfrm>
            <a:off x="661059" y="16141924"/>
            <a:ext cx="640080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800" b="1" dirty="0">
                <a:solidFill>
                  <a:srgbClr val="000000"/>
                </a:solidFill>
                <a:effectLst/>
                <a:latin typeface="Aharoni" panose="02010803020104030203" pitchFamily="2" charset="-79"/>
                <a:ea typeface="Times New Roman" panose="02020603050405020304" pitchFamily="18" charset="0"/>
                <a:cs typeface="Aharoni" panose="02010803020104030203" pitchFamily="2" charset="-79"/>
              </a:rPr>
              <a:t>COMPARATIVE STUDY</a:t>
            </a:r>
            <a:endParaRPr lang="en-IN" sz="1600" dirty="0">
              <a:effectLst/>
              <a:latin typeface="Aharoni" panose="02010803020104030203" pitchFamily="2" charset="-79"/>
              <a:ea typeface="Times New Roman" panose="02020603050405020304" pitchFamily="18" charset="0"/>
              <a:cs typeface="Aharoni" panose="02010803020104030203" pitchFamily="2" charset="-79"/>
            </a:endParaRP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8639ED70-F967-78BF-D69A-9E73C7985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64747"/>
              </p:ext>
            </p:extLst>
          </p:nvPr>
        </p:nvGraphicFramePr>
        <p:xfrm>
          <a:off x="990600" y="16731817"/>
          <a:ext cx="5638800" cy="2748028"/>
        </p:xfrm>
        <a:graphic>
          <a:graphicData uri="http://schemas.openxmlformats.org/drawingml/2006/table">
            <a:tbl>
              <a:tblPr firstRow="1" firstCol="1" bandRow="1"/>
              <a:tblGrid>
                <a:gridCol w="1504405">
                  <a:extLst>
                    <a:ext uri="{9D8B030D-6E8A-4147-A177-3AD203B41FA5}">
                      <a16:colId xmlns:a16="http://schemas.microsoft.com/office/drawing/2014/main" val="1522215373"/>
                    </a:ext>
                  </a:extLst>
                </a:gridCol>
                <a:gridCol w="1470959">
                  <a:extLst>
                    <a:ext uri="{9D8B030D-6E8A-4147-A177-3AD203B41FA5}">
                      <a16:colId xmlns:a16="http://schemas.microsoft.com/office/drawing/2014/main" val="3505855144"/>
                    </a:ext>
                  </a:extLst>
                </a:gridCol>
                <a:gridCol w="1405615">
                  <a:extLst>
                    <a:ext uri="{9D8B030D-6E8A-4147-A177-3AD203B41FA5}">
                      <a16:colId xmlns:a16="http://schemas.microsoft.com/office/drawing/2014/main" val="1753035368"/>
                    </a:ext>
                  </a:extLst>
                </a:gridCol>
                <a:gridCol w="1257821">
                  <a:extLst>
                    <a:ext uri="{9D8B030D-6E8A-4147-A177-3AD203B41FA5}">
                      <a16:colId xmlns:a16="http://schemas.microsoft.com/office/drawing/2014/main" val="854886710"/>
                    </a:ext>
                  </a:extLst>
                </a:gridCol>
              </a:tblGrid>
              <a:tr h="60281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Method</a:t>
                      </a:r>
                      <a:endParaRPr lang="en-IN" sz="14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Amplitude Reduction (%)</a:t>
                      </a:r>
                      <a:endParaRPr lang="en-IN" sz="14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Response Time 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Accuracy (%)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290149"/>
                  </a:ext>
                </a:extLst>
              </a:tr>
              <a:tr h="60281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Wiener Filter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54.9989 </a:t>
                      </a:r>
                      <a:endParaRPr lang="en-IN" sz="14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0.0100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High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99.9519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804768"/>
                  </a:ext>
                </a:extLst>
              </a:tr>
              <a:tr h="60281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Neural Network</a:t>
                      </a:r>
                      <a:endParaRPr lang="en-IN" sz="14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52.4272 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0.8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Low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69.5807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475582"/>
                  </a:ext>
                </a:extLst>
              </a:tr>
              <a:tr h="92344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Combination of Wiener and Neural Network</a:t>
                      </a:r>
                      <a:endParaRPr lang="en-IN" sz="14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54.1916 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0.0100</a:t>
                      </a:r>
                      <a:endParaRPr lang="en-IN" sz="1400" b="1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Very High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100.0438 </a:t>
                      </a:r>
                      <a:endParaRPr lang="en-IN" sz="14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2345" marR="623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18849"/>
                  </a:ext>
                </a:extLst>
              </a:tr>
            </a:tbl>
          </a:graphicData>
        </a:graphic>
      </p:graphicFrame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FAAD0A7-646A-F9B3-FDC7-4A8E95713C3A}"/>
              </a:ext>
            </a:extLst>
          </p:cNvPr>
          <p:cNvSpPr/>
          <p:nvPr/>
        </p:nvSpPr>
        <p:spPr>
          <a:xfrm>
            <a:off x="287157" y="19953138"/>
            <a:ext cx="14543148" cy="1292712"/>
          </a:xfrm>
          <a:prstGeom prst="roundRect">
            <a:avLst>
              <a:gd name="adj" fmla="val 29635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tx1"/>
              </a:solidFill>
            </a:endParaRPr>
          </a:p>
          <a:p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4F1CD2-3C31-4FC6-4B84-4075F9CB9A06}"/>
              </a:ext>
            </a:extLst>
          </p:cNvPr>
          <p:cNvSpPr txBox="1"/>
          <p:nvPr/>
        </p:nvSpPr>
        <p:spPr>
          <a:xfrm>
            <a:off x="2754775" y="20045496"/>
            <a:ext cx="144804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>
                <a:cs typeface="Times New Roman" panose="02020603050405020304" pitchFamily="18" charset="0"/>
              </a:rPr>
              <a:t>Li, Y., Wang, Z., Chen, Y., &amp; Tang, X. (2020). Deep Learning Based Adaptive Noise Reduction in Speech Recognition Systems. IEEE Access, 8, 14045-14054.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>
                <a:cs typeface="Times New Roman" panose="02020603050405020304" pitchFamily="18" charset="0"/>
              </a:rPr>
              <a:t>Zhang, Y., </a:t>
            </a:r>
            <a:r>
              <a:rPr lang="en-IN" sz="1100" b="1" dirty="0" err="1">
                <a:cs typeface="Times New Roman" panose="02020603050405020304" pitchFamily="18" charset="0"/>
              </a:rPr>
              <a:t>Zuo</a:t>
            </a:r>
            <a:r>
              <a:rPr lang="en-IN" sz="1100" b="1" dirty="0">
                <a:cs typeface="Times New Roman" panose="02020603050405020304" pitchFamily="18" charset="0"/>
              </a:rPr>
              <a:t>, W., &amp; Zhang, D. (2021). Adaptive Noise Reduction Using Deep Learning for Medical Image Denoising. IEEE Transactions on Medical Imaging, 40(5), 1285-1295.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>
                <a:cs typeface="Times New Roman" panose="02020603050405020304" pitchFamily="18" charset="0"/>
              </a:rPr>
              <a:t>Lee, J., Kim, S., &amp; Kim, H. J. (2019). Adaptive Noise Reduction in Telecommunications using Neural Networks. IEEE Transactions on Signal Processing, 67(18), 4871-4884.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>
                <a:cs typeface="Times New Roman" panose="02020603050405020304" pitchFamily="18" charset="0"/>
              </a:rPr>
              <a:t>Wen, Z., Li, S., &amp; Li, C. (2020). Noise Reduction in Industrial Systems Using Neural Adaptive Control. IEEE Transactions on Industrial Electronics, 67(7), 5841-5852.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>
                <a:cs typeface="Times New Roman" panose="02020603050405020304" pitchFamily="18" charset="0"/>
              </a:rPr>
              <a:t>Zhang, L., Wang, Y., &amp; Zhang, Q. (2018). Deep Neural Networks for Noise Reduction in Audio Processing. IEEE Signal Processing Letters, 25(5), 671-675.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>
                <a:cs typeface="Times New Roman" panose="02020603050405020304" pitchFamily="18" charset="0"/>
              </a:rPr>
              <a:t>Sun, Y., Zhang, H., &amp; Wang, J. (2021). Adaptive Noise Reduction in Aerospace Applications using Deep Learning. Aerospace Science and Technology, 112, 106577.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F0FD14-7CDF-A29E-F05C-8A842511898F}"/>
              </a:ext>
            </a:extLst>
          </p:cNvPr>
          <p:cNvSpPr txBox="1"/>
          <p:nvPr/>
        </p:nvSpPr>
        <p:spPr>
          <a:xfrm>
            <a:off x="474108" y="20368661"/>
            <a:ext cx="2170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haroni" panose="02010803020104030203" pitchFamily="2" charset="-79"/>
                <a:cs typeface="Aharoni" panose="02010803020104030203" pitchFamily="2" charset="-79"/>
              </a:rPr>
              <a:t>REFERENCES</a:t>
            </a:r>
            <a:endParaRPr lang="en-IN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8E7426A-B03F-CE87-A9BD-F3545015B3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7017" y="6789076"/>
            <a:ext cx="7190969" cy="428109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FE7828-418F-EF32-EB4A-89EA62E470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059" y="11491722"/>
            <a:ext cx="1062504" cy="5205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085E8C-1A3A-6343-EF0C-2CE94B5A5A2A}"/>
              </a:ext>
            </a:extLst>
          </p:cNvPr>
          <p:cNvSpPr txBox="1"/>
          <p:nvPr/>
        </p:nvSpPr>
        <p:spPr>
          <a:xfrm>
            <a:off x="808019" y="11579109"/>
            <a:ext cx="88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56F2D-1DD6-795F-DE4C-1CBAA26DD9E0}"/>
              </a:ext>
            </a:extLst>
          </p:cNvPr>
          <p:cNvSpPr txBox="1"/>
          <p:nvPr/>
        </p:nvSpPr>
        <p:spPr>
          <a:xfrm>
            <a:off x="2684780" y="7267808"/>
            <a:ext cx="432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FLOWCHART OF WIENER FILTER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B8606-33FD-34B7-A52B-189F245F8599}"/>
              </a:ext>
            </a:extLst>
          </p:cNvPr>
          <p:cNvSpPr txBox="1"/>
          <p:nvPr/>
        </p:nvSpPr>
        <p:spPr>
          <a:xfrm>
            <a:off x="9630617" y="7176919"/>
            <a:ext cx="429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FLOWCHART OF NEURAL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1CD5D-54C7-2902-010B-B1349C4B4C84}"/>
              </a:ext>
            </a:extLst>
          </p:cNvPr>
          <p:cNvSpPr txBox="1"/>
          <p:nvPr/>
        </p:nvSpPr>
        <p:spPr>
          <a:xfrm>
            <a:off x="2261375" y="11605870"/>
            <a:ext cx="4817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FLOWCHART OF COMBINATION OF WIENER AND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40863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1525</TotalTime>
  <Words>596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Aharoni</vt:lpstr>
      <vt:lpstr>Arial</vt:lpstr>
      <vt:lpstr>Arial Rounded MT Bold</vt:lpstr>
      <vt:lpstr>Calibri</vt:lpstr>
      <vt:lpstr>Calibri Light</vt:lpstr>
      <vt:lpstr>Castellar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Diya K D</dc:creator>
  <cp:lastModifiedBy>Diya K D</cp:lastModifiedBy>
  <cp:revision>7</cp:revision>
  <dcterms:created xsi:type="dcterms:W3CDTF">2024-05-05T09:57:34Z</dcterms:created>
  <dcterms:modified xsi:type="dcterms:W3CDTF">2024-06-24T06:33:03Z</dcterms:modified>
</cp:coreProperties>
</file>